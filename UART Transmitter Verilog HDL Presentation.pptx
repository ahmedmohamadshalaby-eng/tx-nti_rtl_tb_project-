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" Type="http://schemas.openxmlformats.org/officeDocument/2006/relationships/image" Target="../media/image28.png"/><Relationship Id="rId21" Type="http://schemas.openxmlformats.org/officeDocument/2006/relationships/image" Target="../media/image46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image" Target="../media/image10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3" Type="http://schemas.openxmlformats.org/officeDocument/2006/relationships/image" Target="../media/image47.png"/><Relationship Id="rId21" Type="http://schemas.openxmlformats.org/officeDocument/2006/relationships/image" Target="../media/image65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" Type="http://schemas.openxmlformats.org/officeDocument/2006/relationships/image" Target="../media/image10.png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19" Type="http://schemas.openxmlformats.org/officeDocument/2006/relationships/image" Target="../media/image63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4.png"/><Relationship Id="rId3" Type="http://schemas.openxmlformats.org/officeDocument/2006/relationships/image" Target="../media/image66.png"/><Relationship Id="rId7" Type="http://schemas.openxmlformats.org/officeDocument/2006/relationships/image" Target="../media/image69.png"/><Relationship Id="rId12" Type="http://schemas.openxmlformats.org/officeDocument/2006/relationships/image" Target="../media/image5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73.png"/><Relationship Id="rId5" Type="http://schemas.openxmlformats.org/officeDocument/2006/relationships/image" Target="../media/image68.png"/><Relationship Id="rId10" Type="http://schemas.openxmlformats.org/officeDocument/2006/relationships/image" Target="../media/image72.png"/><Relationship Id="rId4" Type="http://schemas.openxmlformats.org/officeDocument/2006/relationships/image" Target="../media/image67.png"/><Relationship Id="rId9" Type="http://schemas.openxmlformats.org/officeDocument/2006/relationships/image" Target="../media/image7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3.png"/><Relationship Id="rId18" Type="http://schemas.openxmlformats.org/officeDocument/2006/relationships/image" Target="../media/image88.png"/><Relationship Id="rId3" Type="http://schemas.openxmlformats.org/officeDocument/2006/relationships/image" Target="../media/image75.png"/><Relationship Id="rId21" Type="http://schemas.openxmlformats.org/officeDocument/2006/relationships/image" Target="../media/image91.png"/><Relationship Id="rId7" Type="http://schemas.openxmlformats.org/officeDocument/2006/relationships/image" Target="../media/image79.png"/><Relationship Id="rId12" Type="http://schemas.openxmlformats.org/officeDocument/2006/relationships/image" Target="../media/image54.png"/><Relationship Id="rId17" Type="http://schemas.openxmlformats.org/officeDocument/2006/relationships/image" Target="../media/image87.png"/><Relationship Id="rId2" Type="http://schemas.openxmlformats.org/officeDocument/2006/relationships/image" Target="../media/image10.png"/><Relationship Id="rId16" Type="http://schemas.openxmlformats.org/officeDocument/2006/relationships/image" Target="../media/image86.png"/><Relationship Id="rId20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11" Type="http://schemas.openxmlformats.org/officeDocument/2006/relationships/image" Target="../media/image53.png"/><Relationship Id="rId5" Type="http://schemas.openxmlformats.org/officeDocument/2006/relationships/image" Target="../media/image77.png"/><Relationship Id="rId15" Type="http://schemas.openxmlformats.org/officeDocument/2006/relationships/image" Target="../media/image85.png"/><Relationship Id="rId10" Type="http://schemas.openxmlformats.org/officeDocument/2006/relationships/image" Target="../media/image82.png"/><Relationship Id="rId19" Type="http://schemas.openxmlformats.org/officeDocument/2006/relationships/image" Target="../media/image89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2.png"/><Relationship Id="rId7" Type="http://schemas.openxmlformats.org/officeDocument/2006/relationships/image" Target="../media/image95.png"/><Relationship Id="rId12" Type="http://schemas.openxmlformats.org/officeDocument/2006/relationships/image" Target="../media/image9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11" Type="http://schemas.openxmlformats.org/officeDocument/2006/relationships/image" Target="../media/image98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93.png"/><Relationship Id="rId9" Type="http://schemas.openxmlformats.org/officeDocument/2006/relationships/image" Target="../media/image9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18" Type="http://schemas.openxmlformats.org/officeDocument/2006/relationships/image" Target="../media/image12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17" Type="http://schemas.openxmlformats.org/officeDocument/2006/relationships/image" Target="../media/image124.png"/><Relationship Id="rId2" Type="http://schemas.openxmlformats.org/officeDocument/2006/relationships/image" Target="../media/image10.png"/><Relationship Id="rId16" Type="http://schemas.openxmlformats.org/officeDocument/2006/relationships/image" Target="../media/image1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12.png"/><Relationship Id="rId15" Type="http://schemas.openxmlformats.org/officeDocument/2006/relationships/image" Target="../media/image122.png"/><Relationship Id="rId10" Type="http://schemas.openxmlformats.org/officeDocument/2006/relationships/image" Target="../media/image117.png"/><Relationship Id="rId19" Type="http://schemas.openxmlformats.org/officeDocument/2006/relationships/image" Target="../media/image126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Relationship Id="rId14" Type="http://schemas.openxmlformats.org/officeDocument/2006/relationships/image" Target="../media/image1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1376511"/>
            <a:ext cx="3429000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5949" y="4079527"/>
            <a:ext cx="3022550" cy="14019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4799" y="4079527"/>
            <a:ext cx="3022550" cy="14019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648" y="4079527"/>
            <a:ext cx="3022550" cy="140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5325" y="1909911"/>
            <a:ext cx="10801350" cy="1095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312"/>
              </a:lnSpc>
            </a:pPr>
            <a:r>
              <a:rPr sz="3450" b="0" i="0" u="none">
                <a:solidFill>
                  <a:srgbClr val="FFFFFF"/>
                </a:solidFill>
                <a:latin typeface="Poppins Black"/>
              </a:rPr>
              <a:t>Design and Verification of </a:t>
            </a:r>
            <a:r>
              <a:rPr sz="3450" b="0" i="0" u="none">
                <a:solidFill>
                  <a:srgbClr val="38BDF8"/>
                </a:solidFill>
                <a:latin typeface="Poppins Black"/>
              </a:rPr>
              <a:t>UART Transmitter (TX)</a:t>
            </a:r>
            <a:r>
              <a:rPr sz="3450" b="0" i="0" u="none">
                <a:solidFill>
                  <a:srgbClr val="FFFFFF"/>
                </a:solidFill>
                <a:latin typeface="Poppins Black"/>
              </a:rPr>
              <a:t> using Verilog HDL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250" y="3176736"/>
            <a:ext cx="81915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>
                <a:solidFill>
                  <a:srgbClr val="94A3B8"/>
                </a:solidFill>
                <a:latin typeface="Cairo"/>
              </a:rPr>
              <a:t>مشروع تصميم عتادي متكامل (RTL Design) لوحدة الإرسال التسلسلي مع التحقق الوظيفي لجميع الوحدات الفرعية والنظام الكلي.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7125" y="1462236"/>
            <a:ext cx="13335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2850" y="4260502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70412" y="4565302"/>
            <a:ext cx="27536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Cairo"/>
              </a:rPr>
              <a:t>Tools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5974" y="4889152"/>
            <a:ext cx="2622500" cy="205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sz="1012" b="0" i="0" u="none">
                <a:solidFill>
                  <a:srgbClr val="94A3B8"/>
                </a:solidFill>
                <a:latin typeface="JetBrains Mono"/>
              </a:rPr>
              <a:t>ModelSim • Intel Quartus • VS Code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7412" y="4260502"/>
            <a:ext cx="257175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19261" y="4565302"/>
            <a:ext cx="27536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Cairo"/>
              </a:rPr>
              <a:t>Implementation Stages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4824" y="4889152"/>
            <a:ext cx="262250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sz="1012" b="0" i="0" u="none">
                <a:solidFill>
                  <a:srgbClr val="94A3B8"/>
                </a:solidFill>
                <a:latin typeface="Cairo"/>
              </a:rPr>
              <a:t>RTL Design • Sub-module Unit Tests • Top Verification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30549" y="4260502"/>
            <a:ext cx="22860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68111" y="4565302"/>
            <a:ext cx="27536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Cairo"/>
              </a:rPr>
              <a:t>Verification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3673" y="4889152"/>
            <a:ext cx="2622500" cy="205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sz="1012" b="0" i="0" u="none">
                <a:solidFill>
                  <a:srgbClr val="94A3B8"/>
                </a:solidFill>
                <a:latin typeface="Cairo"/>
              </a:rPr>
              <a:t>100% Timing &amp; Functional Assertion Pass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5314950"/>
            <a:ext cx="11315700" cy="1181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171575"/>
            <a:ext cx="5562600" cy="247277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" y="1171575"/>
            <a:ext cx="5562600" cy="247277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" y="5800725"/>
            <a:ext cx="1212800" cy="552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8125" y="5800725"/>
            <a:ext cx="1212800" cy="552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8075" y="5800725"/>
            <a:ext cx="4565600" cy="552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0826" y="5800725"/>
            <a:ext cx="1212800" cy="552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0776" y="5800725"/>
            <a:ext cx="1212800" cy="552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0726" y="5800725"/>
            <a:ext cx="1212800" cy="552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19925" y="361950"/>
            <a:ext cx="4970621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Cairo ExtraBold"/>
              </a:rPr>
              <a:t>أساسيات بروتوكول الـ UART (بوجه عام)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150" y="471487"/>
            <a:ext cx="1885950" cy="27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20475" y="476250"/>
            <a:ext cx="333375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8175" y="5457825"/>
            <a:ext cx="1146143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Cairo"/>
              </a:rPr>
              <a:t>مخطط بنية فريم الـ UART القياسي (UART Standard Frame Sequence):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925" y="1352550"/>
            <a:ext cx="5140642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Cairo"/>
              </a:rPr>
              <a:t>ما هو بروتوكول UART؟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0325" y="1781175"/>
            <a:ext cx="512445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087" b="1" i="0" u="none">
                <a:solidFill>
                  <a:srgbClr val="CBD5E1"/>
                </a:solidFill>
                <a:latin typeface="Cairo"/>
              </a:rPr>
              <a:t>Universal Asynchronous Receiver-Transmitter:</a:t>
            </a:r>
            <a:r>
              <a:rPr sz="1087" b="0" i="0" u="none">
                <a:solidFill>
                  <a:srgbClr val="CBD5E1"/>
                </a:solidFill>
                <a:latin typeface="Cairo"/>
              </a:rPr>
              <a:t> بروتوكول اتصال تسلسلي غير متزامن يُستخدم لتبادل البيانات بين المتحكمات والأنظمة المدمجة عبر خطين رئيسيين: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1352550"/>
            <a:ext cx="5100637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Cairo"/>
              </a:rPr>
              <a:t>هيكل حزمة البيانات (UART Frame Structure)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82375" y="1423987"/>
            <a:ext cx="15240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10325" y="2299096"/>
            <a:ext cx="4953000" cy="2430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0" i="0" u="none">
                <a:solidFill>
                  <a:srgbClr val="CBD5E1"/>
                </a:solidFill>
                <a:latin typeface="Cairo"/>
              </a:rPr>
              <a:t>: خط إرسال البيانات (Transmitter).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0325" y="2618333"/>
            <a:ext cx="4953000" cy="2430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0" i="0" u="none">
                <a:solidFill>
                  <a:srgbClr val="CBD5E1"/>
                </a:solidFill>
                <a:latin typeface="Cairo"/>
              </a:rPr>
              <a:t>: خط استقبال البيانات (Receiver).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0325" y="2937569"/>
            <a:ext cx="4953000" cy="449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1" i="0" u="none">
                <a:solidFill>
                  <a:srgbClr val="CBD5E1"/>
                </a:solidFill>
                <a:latin typeface="Cairo"/>
              </a:rPr>
              <a:t>Clockless Transmission: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لا يعتمد على ساعة مشتركة بل على معدل إرسال متفق عليه مسبقاً ().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91175" y="1423987"/>
            <a:ext cx="190500" cy="1714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57225" y="1781175"/>
            <a:ext cx="4953000" cy="206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1" i="0" u="none">
                <a:solidFill>
                  <a:srgbClr val="CBD5E1"/>
                </a:solidFill>
                <a:latin typeface="Cairo"/>
              </a:rPr>
              <a:t>حالة الخمول (Idle State):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الخط مرتفع دوماً على المستوى المنطقي العالي </a:t>
            </a:r>
            <a:r>
              <a:rPr sz="1050" b="1" i="0" u="none">
                <a:solidFill>
                  <a:srgbClr val="4ADE80"/>
                </a:solidFill>
                <a:latin typeface="Cairo"/>
              </a:rPr>
              <a:t>High (1)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225" y="2063948"/>
            <a:ext cx="4953000" cy="206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1" i="0" u="none">
                <a:solidFill>
                  <a:srgbClr val="CBD5E1"/>
                </a:solidFill>
                <a:latin typeface="Cairo"/>
              </a:rPr>
              <a:t>بت البداية (Start Bit):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بت واحد منخفض </a:t>
            </a:r>
            <a:r>
              <a:rPr sz="1050" b="1" i="0" u="none">
                <a:solidFill>
                  <a:srgbClr val="4ADE80"/>
                </a:solidFill>
                <a:latin typeface="Cairo"/>
              </a:rPr>
              <a:t>Low (0)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لتنبيه المستقبل ببدء الإرسال.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225" y="2346721"/>
            <a:ext cx="4953000" cy="2430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1" i="0" u="none">
                <a:solidFill>
                  <a:srgbClr val="CBD5E1"/>
                </a:solidFill>
                <a:latin typeface="Cairo"/>
              </a:rPr>
              <a:t>حمولة البيانات (Data Payload):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بايت بيانات 8 بت يُرسل بالتسلسل من إلى 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225" y="2665958"/>
            <a:ext cx="4953000" cy="206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1" i="0" u="none">
                <a:solidFill>
                  <a:srgbClr val="CBD5E1"/>
                </a:solidFill>
                <a:latin typeface="Cairo"/>
              </a:rPr>
              <a:t>بت التحقق (Parity Bit):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اختياري لاكتشاف الأخطاء (Even / Odd Parity).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2948731"/>
            <a:ext cx="4953000" cy="206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1" i="0" u="none">
                <a:solidFill>
                  <a:srgbClr val="CBD5E1"/>
                </a:solidFill>
                <a:latin typeface="Cairo"/>
              </a:rPr>
              <a:t>بت التوقف (Stop Bit):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بت مرتفع </a:t>
            </a:r>
            <a:r>
              <a:rPr sz="1050" b="1" i="0" u="none">
                <a:solidFill>
                  <a:srgbClr val="4ADE80"/>
                </a:solidFill>
                <a:latin typeface="Cairo"/>
              </a:rPr>
              <a:t>High (1)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لإنهاء الفريم والعودة لحالة الخمول.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905500"/>
            <a:ext cx="11175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94A3B8"/>
                </a:solidFill>
                <a:latin typeface="JetBrains Mono"/>
              </a:rPr>
              <a:t>IDLE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096000"/>
            <a:ext cx="11175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94A3B8"/>
                </a:solidFill>
                <a:latin typeface="JetBrains Mono"/>
              </a:rPr>
              <a:t>1'b1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55750" y="5905500"/>
            <a:ext cx="11175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87171"/>
                </a:solidFill>
                <a:latin typeface="JetBrains Mono"/>
              </a:rPr>
              <a:t>START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750" y="6096000"/>
            <a:ext cx="11175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87171"/>
                </a:solidFill>
                <a:latin typeface="JetBrains Mono"/>
              </a:rPr>
              <a:t>1'b0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25700" y="5905500"/>
            <a:ext cx="4470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38BDF8"/>
                </a:solidFill>
                <a:latin typeface="JetBrains Mono"/>
              </a:rPr>
              <a:t>DATA PAYLOAD [7:0]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25700" y="6096000"/>
            <a:ext cx="4470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38BDF8"/>
                </a:solidFill>
                <a:latin typeface="JetBrains Mono"/>
              </a:rPr>
              <a:t>D0 (LSB) ➔ D7 (MSB)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8451" y="5905500"/>
            <a:ext cx="11175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ACC15"/>
                </a:solidFill>
                <a:latin typeface="JetBrains Mono"/>
              </a:rPr>
              <a:t>PARITY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48451" y="6096000"/>
            <a:ext cx="11175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ACC15"/>
                </a:solidFill>
                <a:latin typeface="JetBrains Mono"/>
              </a:rPr>
              <a:t>Even / Odd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18401" y="5905500"/>
            <a:ext cx="11175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4ADE80"/>
                </a:solidFill>
                <a:latin typeface="JetBrains Mono"/>
              </a:rPr>
              <a:t>STOP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18401" y="6096000"/>
            <a:ext cx="11175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4ADE80"/>
                </a:solidFill>
                <a:latin typeface="JetBrains Mono"/>
              </a:rPr>
              <a:t>1'b1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88351" y="5905500"/>
            <a:ext cx="11175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94A3B8"/>
                </a:solidFill>
                <a:latin typeface="JetBrains Mono"/>
              </a:rPr>
              <a:t>IDLE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88351" y="6096000"/>
            <a:ext cx="11175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94A3B8"/>
                </a:solidFill>
                <a:latin typeface="JetBrains Mono"/>
              </a:rPr>
              <a:t>1'b1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80749" y="2299096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58525" y="2299096"/>
            <a:ext cx="304800" cy="24303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1480749" y="2618333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58525" y="2618333"/>
            <a:ext cx="304800" cy="24303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480749" y="2937569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96500" y="3144142"/>
            <a:ext cx="838200" cy="24303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727649" y="1781175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27649" y="2063948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27649" y="2346721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52575" y="2346721"/>
            <a:ext cx="381000" cy="243036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2975" y="2346721"/>
            <a:ext cx="381000" cy="243036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727649" y="2665958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27649" y="2948731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5181302"/>
            <a:ext cx="11315700" cy="131474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9225" y="1171575"/>
            <a:ext cx="2714625" cy="16863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171575"/>
            <a:ext cx="2714625" cy="16863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5175" y="1171575"/>
            <a:ext cx="2714625" cy="168637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" y="1171575"/>
            <a:ext cx="2714625" cy="16863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67550" y="361950"/>
            <a:ext cx="4920615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Cairo ExtraBold"/>
              </a:rPr>
              <a:t>معمارية مرسل الـ UART TX (بوجه خاص)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50" y="471487"/>
            <a:ext cx="2114550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49050" y="476250"/>
            <a:ext cx="3048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5825" y="5362277"/>
            <a:ext cx="11181397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Cairo"/>
              </a:rPr>
              <a:t>مخطط تدفق العمليات (Dataflow Execution)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5790902"/>
            <a:ext cx="10877550" cy="5241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94"/>
              </a:lnSpc>
            </a:pPr>
            <a:r>
              <a:rPr sz="1087" b="0" i="0" u="none">
                <a:solidFill>
                  <a:srgbClr val="CBD5E1"/>
                </a:solidFill>
                <a:latin typeface="Cairo"/>
              </a:rPr>
              <a:t>عند تفعيل نبضة ، تبدأ الـ FSM برفع راية الانشغال </a:t>
            </a:r>
            <a:r>
              <a:rPr sz="1087" b="1" i="0" u="none">
                <a:solidFill>
                  <a:srgbClr val="4ADE80"/>
                </a:solidFill>
                <a:latin typeface="Cairo"/>
              </a:rPr>
              <a:t>busy = 1</a:t>
            </a:r>
            <a:r>
              <a:rPr sz="1087" b="0" i="0" u="none">
                <a:solidFill>
                  <a:srgbClr val="CBD5E1"/>
                </a:solidFill>
                <a:latin typeface="Cairo"/>
              </a:rPr>
              <a:t>، وتوجيه الـ MUX لاختيار الـ ، ثم تفعيل الـ Serializer عبر لضخ الـ 8 بت، ثم إخراج الـ (في حال تفعيله)، وأخيراً الـ والعودة تلقائياً لحالة الخمول 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7937" y="1352550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61383" y="1924050"/>
            <a:ext cx="247030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37" b="1" i="0" u="none">
                <a:solidFill>
                  <a:srgbClr val="F1F5F9"/>
                </a:solidFill>
                <a:latin typeface="Cairo"/>
              </a:rPr>
              <a:t>FSM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0200" y="2266950"/>
            <a:ext cx="23526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Cairo"/>
              </a:rPr>
              <a:t>العقل المدبر للنظام ومولد إشارات التحكم وتوجيه الحالات ومزامنة مسار البيانات.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0912" y="1352550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94358" y="1924050"/>
            <a:ext cx="247030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37" b="1" i="0" u="none">
                <a:solidFill>
                  <a:srgbClr val="F1F5F9"/>
                </a:solidFill>
                <a:latin typeface="Cairo"/>
              </a:rPr>
              <a:t>Serializer (8-bit)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3175" y="2266950"/>
            <a:ext cx="23526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Cairo"/>
              </a:rPr>
              <a:t>محول البيانات من صيغة التوازي (Parallel) إلى التسلسل (Serial) بنظام (LSB First).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3887" y="1352550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427333" y="1924050"/>
            <a:ext cx="247030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37" b="1" i="0" u="none">
                <a:solidFill>
                  <a:srgbClr val="F1F5F9"/>
                </a:solidFill>
                <a:latin typeface="Cairo"/>
              </a:rPr>
              <a:t>Parity Calculator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6150" y="2266950"/>
            <a:ext cx="23526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Cairo"/>
              </a:rPr>
              <a:t>موديول لحساب نوع التحقق (Even / Odd) للتأكد التلقائي من سلامة البيانات المنقولة.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6862" y="1352550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60308" y="1924050"/>
            <a:ext cx="247030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37" b="1" i="0" u="none">
                <a:solidFill>
                  <a:srgbClr val="F1F5F9"/>
                </a:solidFill>
                <a:latin typeface="Cairo"/>
              </a:rPr>
              <a:t>4x1 Multiplexer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125" y="2266950"/>
            <a:ext cx="2352675" cy="4100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Cairo"/>
              </a:rPr>
              <a:t>الموجه النهائي الذي يختار نوع البت الخارج على خط الإرسال بدقة متناهية.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82375" y="5433714"/>
            <a:ext cx="152400" cy="171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53625" y="5790902"/>
            <a:ext cx="685800" cy="262086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91100" y="5790902"/>
            <a:ext cx="1143000" cy="262086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90800" y="5790902"/>
            <a:ext cx="914400" cy="262086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20375" y="6052988"/>
            <a:ext cx="914400" cy="262086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96250" y="6052988"/>
            <a:ext cx="1066800" cy="262086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19800" y="6052988"/>
            <a:ext cx="457200" cy="262086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01287" y="1485900"/>
            <a:ext cx="190500" cy="190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34262" y="1485900"/>
            <a:ext cx="190500" cy="190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91050" y="1485900"/>
            <a:ext cx="142875" cy="190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00212" y="1485900"/>
            <a:ext cx="190500" cy="1905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90675" y="2452687"/>
            <a:ext cx="552450" cy="2242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1171575"/>
            <a:ext cx="5562600" cy="34105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" y="1171575"/>
            <a:ext cx="5562600" cy="34105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96050" y="361950"/>
            <a:ext cx="552069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Cairo ExtraBold"/>
              </a:rPr>
              <a:t>الموديول الفرعي 1: 4x1 Multiplexer (MUX.v)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" y="471487"/>
            <a:ext cx="2038350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15725" y="476250"/>
            <a:ext cx="23812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57975" y="1352550"/>
            <a:ext cx="5120640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Cairo"/>
              </a:rPr>
              <a:t>الوظيفة وجدول التوجيه المنطقي (Truth Table)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0325" y="1781175"/>
            <a:ext cx="5124450" cy="476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087" b="0" i="0" u="none">
                <a:solidFill>
                  <a:srgbClr val="CBD5E1"/>
                </a:solidFill>
                <a:latin typeface="Cairo"/>
              </a:rPr>
              <a:t>اختيار الإشارة المناسبة الخارجة على خط الـ بناءً على إشارة التحكم بدون أي تأخير منطقي (Pure Combinational Logic):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10325" y="2334220"/>
          <a:ext cx="5124448" cy="2066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0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385">
                <a:tc>
                  <a:txBody>
                    <a:bodyPr/>
                    <a:lstStyle/>
                    <a:p>
                      <a:pPr algn="r"/>
                      <a:r>
                        <a:rPr sz="1012" b="1" i="0" u="none">
                          <a:solidFill>
                            <a:srgbClr val="38BDF8"/>
                          </a:solidFill>
                          <a:latin typeface="Cairo"/>
                        </a:rPr>
                        <a:t>Selection Line (sel)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1" i="0" u="none">
                          <a:solidFill>
                            <a:srgbClr val="38BDF8"/>
                          </a:solidFill>
                          <a:latin typeface="Cairo"/>
                        </a:rPr>
                        <a:t>الخرج المختار (TX_out)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12" b="1" i="0" u="none">
                          <a:solidFill>
                            <a:srgbClr val="38BDF8"/>
                          </a:solidFill>
                          <a:latin typeface="Cairo"/>
                        </a:rPr>
                        <a:t>الوصف الوظيفي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38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Cairo"/>
                        </a:rPr>
                        <a:t>2'b00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Cairo"/>
                        </a:rPr>
                        <a:t>1'b0 (Start Bit)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Cairo"/>
                        </a:rPr>
                        <a:t>بدء الفريم وتنبيه المستقبل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38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Cairo"/>
                        </a:rPr>
                        <a:t>2'b01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Cairo"/>
                        </a:rPr>
                        <a:t>1'b1 (Stop Bit)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Cairo"/>
                        </a:rPr>
                        <a:t>إنهاء الفريم والعودة للـ 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38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Cairo"/>
                        </a:rPr>
                        <a:t>2'b10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Cairo"/>
                        </a:rPr>
                        <a:t>ser_out (Data Bit)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Cairo"/>
                        </a:rPr>
                        <a:t>البت التسلسلي من السيريالايزر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38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Cairo"/>
                        </a:rPr>
                        <a:t>2'b11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Cairo"/>
                        </a:rPr>
                        <a:t>p_bit (Parity Bit)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Cairo"/>
                        </a:rPr>
                        <a:t>بت التحقق المحسوب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04875" y="1352550"/>
            <a:ext cx="5120640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Cairo"/>
              </a:rPr>
              <a:t>سيناريوهات الـ Testbench والتحقق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63325" y="1423987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0" y="1781175"/>
            <a:ext cx="609600" cy="255984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8450" y="1781175"/>
            <a:ext cx="762000" cy="255984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986367" y="2748557"/>
            <a:ext cx="1548407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05502" y="2748557"/>
            <a:ext cx="1680864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10325" y="2748557"/>
            <a:ext cx="1895177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0225" y="1423987"/>
            <a:ext cx="171450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7225" y="1781175"/>
            <a:ext cx="4953000" cy="449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1" i="0" u="none">
                <a:solidFill>
                  <a:srgbClr val="CBD5E1"/>
                </a:solidFill>
                <a:latin typeface="Cairo"/>
              </a:rPr>
              <a:t>التبديل بين الحالات الأربع: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اختبار التبديل السريع لجميع قيم ناقل التحكم للتأكد من استجابة الموجه الفورية.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225" y="2306984"/>
            <a:ext cx="4953000" cy="449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1" i="0" u="none">
                <a:solidFill>
                  <a:srgbClr val="CBD5E1"/>
                </a:solidFill>
                <a:latin typeface="Cairo"/>
              </a:rPr>
              <a:t>مطابقة الخرج مع الدخل: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فحص شفافية تمرير الإشارات المتغيرة ( و ) دون أي تشويه أو نبضات خاطئة (Glitches).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225" y="2832794"/>
            <a:ext cx="4953000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1" i="0" u="none">
                <a:solidFill>
                  <a:srgbClr val="CBD5E1"/>
                </a:solidFill>
                <a:latin typeface="Cairo"/>
              </a:rPr>
              <a:t>Zero-Delay Verification: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التأكد من حدوث الانتقال في نفس نبضة الدخل دون أي تأخير مسجل (Registered Delay).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86367" y="3158132"/>
            <a:ext cx="154840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05502" y="3158132"/>
            <a:ext cx="168086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10325" y="3158132"/>
            <a:ext cx="189517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986367" y="3567707"/>
            <a:ext cx="154840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05502" y="3567707"/>
            <a:ext cx="168086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10325" y="3567707"/>
            <a:ext cx="189517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986367" y="3977282"/>
            <a:ext cx="154840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05502" y="3977282"/>
            <a:ext cx="168086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10325" y="3977282"/>
            <a:ext cx="189517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986367" y="4386857"/>
            <a:ext cx="154840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305502" y="4386857"/>
            <a:ext cx="168086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10325" y="4386857"/>
            <a:ext cx="189517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27649" y="1781175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" y="1781175"/>
            <a:ext cx="762000" cy="24303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727649" y="2306984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57325" y="2306984"/>
            <a:ext cx="685800" cy="243036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75" y="2306984"/>
            <a:ext cx="533400" cy="24303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727649" y="2832794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39375" y="2448520"/>
            <a:ext cx="352425" cy="2095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67142" y="2448520"/>
            <a:ext cx="552450" cy="2095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34700" y="2867620"/>
            <a:ext cx="485775" cy="2095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934700" y="3277195"/>
            <a:ext cx="485775" cy="2095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934700" y="3686770"/>
            <a:ext cx="485775" cy="2095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52942" y="3686770"/>
            <a:ext cx="619125" cy="2095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934700" y="4096345"/>
            <a:ext cx="485775" cy="2095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86292" y="4096345"/>
            <a:ext cx="48577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1171575"/>
            <a:ext cx="5562600" cy="25979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" y="1171575"/>
            <a:ext cx="5562600" cy="259794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325" y="2369343"/>
            <a:ext cx="5124450" cy="114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34075" y="361950"/>
            <a:ext cx="6110763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Cairo ExtraBold"/>
              </a:rPr>
              <a:t>الموديول الفرعي 2: Parity Calculator (Parity_C.v)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50" y="471487"/>
            <a:ext cx="2038350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53825" y="476250"/>
            <a:ext cx="200025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7025" y="1352550"/>
            <a:ext cx="5100637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Cairo"/>
              </a:rPr>
              <a:t>الوظيفة والمنطق الرياضي للتحقق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0325" y="1781175"/>
            <a:ext cx="5124450" cy="511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087" b="0" i="0" u="none">
                <a:solidFill>
                  <a:srgbClr val="CBD5E1"/>
                </a:solidFill>
                <a:latin typeface="Cairo"/>
              </a:rPr>
              <a:t>حساب بت التحقق تلقائياً للبيانات الداخلة بناءً على نمط (زوجي Even أو فردي Odd) وعند تفعيل إشارة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1352550"/>
            <a:ext cx="5120640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Cairo"/>
              </a:rPr>
              <a:t>سيناريوهات الـ Testbench والتحقق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44275" y="1423987"/>
            <a:ext cx="1905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0575" y="1781175"/>
            <a:ext cx="990600" cy="255984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6125" y="1781175"/>
            <a:ext cx="533400" cy="25598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3500" y="2037159"/>
            <a:ext cx="457200" cy="255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72250" y="2493168"/>
            <a:ext cx="4800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JetBrains Mono"/>
              </a:rPr>
              <a:t>// Even Parity (XOR Reduction Operator):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0" y="2712243"/>
            <a:ext cx="4800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8FAFC"/>
                </a:solidFill>
                <a:latin typeface="JetBrains Mono"/>
              </a:rPr>
              <a:t>p_bit_out = </a:t>
            </a:r>
            <a:r>
              <a:rPr sz="1050" b="0" i="0" u="none">
                <a:solidFill>
                  <a:srgbClr val="4ADE80"/>
                </a:solidFill>
                <a:latin typeface="JetBrains Mono"/>
              </a:rPr>
              <a:t>^P_DATA</a:t>
            </a:r>
            <a:r>
              <a:rPr sz="1050" b="0" i="0" u="none">
                <a:solidFill>
                  <a:srgbClr val="F8FAFC"/>
                </a:solidFill>
                <a:latin typeface="JetBrains Mono"/>
              </a:rPr>
              <a:t>; // Total 1's is Even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0" y="2997993"/>
            <a:ext cx="4800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JetBrains Mono"/>
              </a:rPr>
              <a:t>// Odd Parity (XNOR Reduction Operator):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0" y="3217068"/>
            <a:ext cx="4800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8FAFC"/>
                </a:solidFill>
                <a:latin typeface="JetBrains Mono"/>
              </a:rPr>
              <a:t>p_bit_out = </a:t>
            </a:r>
            <a:r>
              <a:rPr sz="1050" b="0" i="0" u="none">
                <a:solidFill>
                  <a:srgbClr val="FACC15"/>
                </a:solidFill>
                <a:latin typeface="JetBrains Mono"/>
              </a:rPr>
              <a:t>~^P_DATA</a:t>
            </a:r>
            <a:r>
              <a:rPr sz="1050" b="0" i="0" u="none">
                <a:solidFill>
                  <a:srgbClr val="F8FAFC"/>
                </a:solidFill>
                <a:latin typeface="JetBrains Mono"/>
              </a:rPr>
              <a:t>; // Total 1's is Odd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10225" y="1423987"/>
            <a:ext cx="17145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7225" y="1781175"/>
            <a:ext cx="4953000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1" i="0" u="none">
                <a:solidFill>
                  <a:srgbClr val="CBD5E1"/>
                </a:solidFill>
                <a:latin typeface="Cairo"/>
              </a:rPr>
              <a:t>فحص البيانات الزوجية والفردية: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تطبيق متجهات اختبارية تحتوي على أعداد وحايد مختلفة (Odd &amp; Even Hamming Weights) مع تبديل نمط الباريتي بين 0 و 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225" y="2270521"/>
            <a:ext cx="4953000" cy="449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1" i="0" u="none">
                <a:solidFill>
                  <a:srgbClr val="CBD5E1"/>
                </a:solidFill>
                <a:latin typeface="Cairo"/>
              </a:rPr>
              <a:t>فحص حالة التعطيل ():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التحقق من تجميد الخرج وتجاهل الحساب لتقليل استهلاك الطاقة وعدم التأثير على الفريم.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225" y="2796331"/>
            <a:ext cx="4953000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1" i="0" u="none">
                <a:solidFill>
                  <a:srgbClr val="CBD5E1"/>
                </a:solidFill>
                <a:latin typeface="Cairo"/>
              </a:rPr>
              <a:t>التحقق الذاتي (Self-checking TB):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مقارنة خرج الموديول الرياضي مباشرة مع خوارزمية مرجعية ذهبية (Golden Reference Model).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27649" y="1781175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7649" y="2270521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7649" y="2796331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57600" y="2270521"/>
            <a:ext cx="762000" cy="2430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1171575"/>
            <a:ext cx="5562600" cy="243929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" y="1171575"/>
            <a:ext cx="5562600" cy="243929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325" y="2353270"/>
            <a:ext cx="5124450" cy="41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29400" y="361950"/>
            <a:ext cx="5380672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Cairo ExtraBold"/>
              </a:rPr>
              <a:t>الموديول الفرعي 3: FSM Controller (FSM.v)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50" y="471487"/>
            <a:ext cx="2266950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0475" y="476250"/>
            <a:ext cx="333375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7025" y="1352550"/>
            <a:ext cx="5100637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Cairo"/>
              </a:rPr>
              <a:t>الوظيفة والحالات المعرفة (States)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0325" y="1781175"/>
            <a:ext cx="5124450" cy="476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087" b="0" i="0" u="none">
                <a:solidFill>
                  <a:srgbClr val="CBD5E1"/>
                </a:solidFill>
                <a:latin typeface="Cairo"/>
              </a:rPr>
              <a:t>التحكم الزمني الكامل في دورة حياة الفريم وتوليد إشارات: , , وفق مسار الحالات التالي: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1352550"/>
            <a:ext cx="5120640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Cairo"/>
              </a:rPr>
              <a:t>سيناريوهات الـ Testbench وفحص الحالات الحدية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44275" y="1423987"/>
            <a:ext cx="1905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4325" y="1781175"/>
            <a:ext cx="457200" cy="255984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7575" y="1781175"/>
            <a:ext cx="609600" cy="25598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8425" y="1781175"/>
            <a:ext cx="762000" cy="255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10325" y="2867620"/>
            <a:ext cx="4953000" cy="48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1" i="0" u="none">
                <a:solidFill>
                  <a:srgbClr val="CBD5E1"/>
                </a:solidFill>
                <a:latin typeface="Cairo"/>
              </a:rPr>
              <a:t>الانتقال المشروط: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القفز مباشرة من إلى إذا كان ، أو المرور بـ إذا كان 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10225" y="1423987"/>
            <a:ext cx="171450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7225" y="1781175"/>
            <a:ext cx="4953000" cy="449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1" i="0" u="none">
                <a:solidFill>
                  <a:srgbClr val="CBD5E1"/>
                </a:solidFill>
                <a:latin typeface="Cairo"/>
              </a:rPr>
              <a:t>الاستجابة لنبضة البدء: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استقبال نبضة لمدة Cycle واحدة ورفع </a:t>
            </a:r>
            <a:r>
              <a:rPr sz="1050" b="1" i="0" u="none">
                <a:solidFill>
                  <a:srgbClr val="4ADE80"/>
                </a:solidFill>
                <a:latin typeface="Cairo"/>
              </a:rPr>
              <a:t>busy = 1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فوراً.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" y="2306984"/>
            <a:ext cx="4953000" cy="449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1" i="0" u="none">
                <a:solidFill>
                  <a:srgbClr val="CBD5E1"/>
                </a:solidFill>
                <a:latin typeface="Cairo"/>
              </a:rPr>
              <a:t>المزامنة التلقائية: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البقاء في حالة حتى استلام راية من السيريالايزر.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225" y="2832794"/>
            <a:ext cx="4953000" cy="449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1" i="0" u="none">
                <a:solidFill>
                  <a:srgbClr val="CBD5E1"/>
                </a:solidFill>
                <a:latin typeface="Cairo"/>
              </a:rPr>
              <a:t>اختبار الحالات الحدية (Edge Cases):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فحص هبوط إشارة الـ Reset فجأة في أي حالة والتأكد من العودة الفورية لحالة الخمول وتصفير الرايات.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80749" y="2867620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96350" y="2867620"/>
            <a:ext cx="457200" cy="243036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10550" y="2867620"/>
            <a:ext cx="457200" cy="243036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10400" y="2867620"/>
            <a:ext cx="762000" cy="243036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48950" y="3110656"/>
            <a:ext cx="609600" cy="243036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48800" y="3110656"/>
            <a:ext cx="762000" cy="24303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27649" y="1781175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7025" y="1781175"/>
            <a:ext cx="685800" cy="24303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27649" y="2306984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295650" y="2306984"/>
            <a:ext cx="457200" cy="243036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" y="2306984"/>
            <a:ext cx="1295400" cy="24303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727649" y="2832794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81375" y="3039367"/>
            <a:ext cx="457200" cy="2430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1171575"/>
            <a:ext cx="5562600" cy="2393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" y="1171575"/>
            <a:ext cx="5562600" cy="2393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7025" y="361950"/>
            <a:ext cx="5330666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Cairo ExtraBold"/>
              </a:rPr>
              <a:t>الموديول الفرعي 4: Serializer (Serializer.v)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" y="471487"/>
            <a:ext cx="2038350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87150" y="476250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57975" y="1352550"/>
            <a:ext cx="5120640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Cairo"/>
              </a:rPr>
              <a:t>الوظيفة والسلوك الزمني (Timing Behavior)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0325" y="1781175"/>
            <a:ext cx="5124450" cy="511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087" b="0" i="0" u="none">
                <a:solidFill>
                  <a:srgbClr val="CBD5E1"/>
                </a:solidFill>
                <a:latin typeface="Cairo"/>
              </a:rPr>
              <a:t>استقبال بايت بيانات 8-bit وإزاحته تسلسلياً نبضة بنبضة () عند تفعيل إشارة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1352550"/>
            <a:ext cx="5120640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Cairo"/>
              </a:rPr>
              <a:t>سيناريوهات الـ Testbench والتحقق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63325" y="1423987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0975" y="1781175"/>
            <a:ext cx="838200" cy="255984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5175" y="2037159"/>
            <a:ext cx="609600" cy="2559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10325" y="2369343"/>
            <a:ext cx="4953000" cy="449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1" i="0" u="none">
                <a:solidFill>
                  <a:srgbClr val="CBD5E1"/>
                </a:solidFill>
                <a:latin typeface="Cairo"/>
              </a:rPr>
              <a:t>السلوك الزمني: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يتطلب 8 نبضات ساعة كاملة () لتحويل وتفريغ البايت كاملاً.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0325" y="2895153"/>
            <a:ext cx="4953000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1" i="0" u="none">
                <a:solidFill>
                  <a:srgbClr val="CBD5E1"/>
                </a:solidFill>
                <a:latin typeface="Cairo"/>
              </a:rPr>
              <a:t>راية الإنجاز (Done Flag):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عند خروج البت الأخير، يرفع السيريالايزر راية </a:t>
            </a:r>
            <a:r>
              <a:rPr sz="1050" b="1" i="0" u="none">
                <a:solidFill>
                  <a:srgbClr val="4ADE80"/>
                </a:solidFill>
                <a:latin typeface="Cairo"/>
              </a:rPr>
              <a:t>serial_done = 1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لنبضة واحدة لتنبيه الـ FSM بالانتقال للحالة التالية.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0225" y="1423987"/>
            <a:ext cx="171450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7225" y="1781175"/>
            <a:ext cx="4953000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1" i="0" u="none">
                <a:solidFill>
                  <a:srgbClr val="CBD5E1"/>
                </a:solidFill>
                <a:latin typeface="Cairo"/>
              </a:rPr>
              <a:t>تفريغ بايت البيانات بالكامل: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مراقبة خروج البتات بالترتيب الزمني الدقيق (من D0 إلى D7) مع حواف الساعة الصاعدة.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" y="2270521"/>
            <a:ext cx="4953000" cy="449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1" i="0" u="none">
                <a:solidFill>
                  <a:srgbClr val="CBD5E1"/>
                </a:solidFill>
                <a:latin typeface="Cairo"/>
              </a:rPr>
              <a:t>اختبار تعطيل الـ Enable ():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التأكد من تجميد عداد الإزاحة وحفظ حالة البت الحالي بدون فقدان للبيانات.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" y="2796331"/>
            <a:ext cx="4953000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1" i="0" u="none">
                <a:solidFill>
                  <a:srgbClr val="CBD5E1"/>
                </a:solidFill>
                <a:latin typeface="Cairo"/>
              </a:rPr>
              <a:t>اختبار الـ Asynchronous Reset: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تطبيق نبضة Reset في منتصف عملية النقل والتأكد من تصفير الخرج والعداد الداخلي فوراً.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80749" y="2369343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05725" y="2369343"/>
            <a:ext cx="1219200" cy="2430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480749" y="2895153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27649" y="1781175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27649" y="2270521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7649" y="2796331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24225" y="2270521"/>
            <a:ext cx="914400" cy="2430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1171575"/>
            <a:ext cx="5562600" cy="24839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" y="1171575"/>
            <a:ext cx="5562600" cy="24839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3325" y="361950"/>
            <a:ext cx="4410551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Cairo ExtraBold"/>
              </a:rPr>
              <a:t>التكامل واختبار النظام ككل (top.v)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" y="471487"/>
            <a:ext cx="1657350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15725" y="476250"/>
            <a:ext cx="23812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05600" y="1352550"/>
            <a:ext cx="5070633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Cairo"/>
              </a:rPr>
              <a:t>التجميع والربط الداخلي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1352550"/>
            <a:ext cx="5120640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Cairo"/>
              </a:rPr>
              <a:t>أهداف وسيناريوهات اختبار النظام الشامل ()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15700" y="1423987"/>
            <a:ext cx="219075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10325" y="1781175"/>
            <a:ext cx="4953000" cy="206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0" i="0" u="none">
                <a:solidFill>
                  <a:srgbClr val="CBD5E1"/>
                </a:solidFill>
                <a:latin typeface="Cairo"/>
              </a:rPr>
              <a:t>ربط مخارج التحكم الصادرة من الـ FSM بمداخل الـ Serializer والـ Multiplexer.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0325" y="2063948"/>
            <a:ext cx="4953000" cy="449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0" i="0" u="none">
                <a:solidFill>
                  <a:srgbClr val="CBD5E1"/>
                </a:solidFill>
                <a:latin typeface="Cairo"/>
              </a:rPr>
              <a:t>تغذية الـ FSM براية الناتجة من السيريالايزر لضمان التزامن التلقائي والتبادل المغلق (Closed-loop Handshaking).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0325" y="2589758"/>
            <a:ext cx="4953000" cy="206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0" i="0" u="none">
                <a:solidFill>
                  <a:srgbClr val="CBD5E1"/>
                </a:solidFill>
                <a:latin typeface="Cairo"/>
              </a:rPr>
              <a:t>ربط مسار البيانات المتوازي بحاسب الباريتي والسيريالايزر بالتوازي لتقليل التأخير.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0225" y="1423987"/>
            <a:ext cx="17145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04950" y="1376362"/>
            <a:ext cx="723900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7225" y="1781175"/>
            <a:ext cx="4953000" cy="206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1" i="0" u="none">
                <a:solidFill>
                  <a:srgbClr val="CBD5E1"/>
                </a:solidFill>
                <a:latin typeface="Cairo"/>
              </a:rPr>
              <a:t>Even Parity Frame: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فحص فريم كامل (11 بت) مع التحقق الزوجي ومطابقة البت المحسوب.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" y="2063948"/>
            <a:ext cx="4953000" cy="206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1" i="0" u="none">
                <a:solidFill>
                  <a:srgbClr val="CBD5E1"/>
                </a:solidFill>
                <a:latin typeface="Cairo"/>
              </a:rPr>
              <a:t>Odd Parity Frame: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فحص فريم كامل (11 بت) مع التحقق الفردي.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" y="2346721"/>
            <a:ext cx="4953000" cy="206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1" i="0" u="none">
                <a:solidFill>
                  <a:srgbClr val="CBD5E1"/>
                </a:solidFill>
                <a:latin typeface="Cairo"/>
              </a:rPr>
              <a:t>No Parity Mode: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فحص فريم بدون Parity والتأكد من خروج 10 بت فقط بدلاً من 11 بت.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" y="2629495"/>
            <a:ext cx="4953000" cy="449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1" i="0" u="none">
                <a:solidFill>
                  <a:srgbClr val="CBD5E1"/>
                </a:solidFill>
                <a:latin typeface="Cairo"/>
              </a:rPr>
              <a:t>اختبار مناعة النظام (Immunity Test):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محاولة إرسال داتا جديدة أثناء انشغال النظام والتأكد من عدم تلف الفريم الحالي بفضل إشارة 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225" y="3155305"/>
            <a:ext cx="4953000" cy="2430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27"/>
              </a:lnSpc>
            </a:pPr>
            <a:r>
              <a:rPr sz="1050" b="1" i="0" u="none">
                <a:solidFill>
                  <a:srgbClr val="CBD5E1"/>
                </a:solidFill>
                <a:latin typeface="Cairo"/>
              </a:rPr>
              <a:t>استجابة الـ Reset المفاجئ:</a:t>
            </a:r>
            <a:r>
              <a:rPr sz="1050" b="0" i="0" u="none">
                <a:solidFill>
                  <a:srgbClr val="CBD5E1"/>
                </a:solidFill>
                <a:latin typeface="Cairo"/>
              </a:rPr>
              <a:t> تصفير الخط مباشرة إلى المستوى المرتفع ().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80749" y="1781175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80749" y="2063948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53550" y="2063948"/>
            <a:ext cx="990600" cy="24303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480749" y="2589758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7649" y="1781175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7649" y="2063948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27649" y="2346721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27649" y="2629495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28950" y="2836068"/>
            <a:ext cx="457200" cy="24303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727649" y="3155305"/>
            <a:ext cx="57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Cairo"/>
              </a:rPr>
              <a:t>▪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250" y="3155305"/>
            <a:ext cx="914400" cy="2430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5505450"/>
            <a:ext cx="11315700" cy="990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1171575"/>
            <a:ext cx="3657600" cy="198759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1171575"/>
            <a:ext cx="3657600" cy="19875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50" y="1171575"/>
            <a:ext cx="3657600" cy="1987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19700" y="361950"/>
            <a:ext cx="6860857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Cairo ExtraBold"/>
              </a:rPr>
              <a:t>ملخص نتائج التحقق والجاهزية (Verification Summary)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50" y="471487"/>
            <a:ext cx="1581150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87150" y="476250"/>
            <a:ext cx="266700" cy="2667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69758" y="5829300"/>
            <a:ext cx="9525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27561" y="5829300"/>
            <a:ext cx="9525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96450" y="1352550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94833" y="1924050"/>
            <a:ext cx="346043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37" b="1" i="0" u="none">
                <a:solidFill>
                  <a:srgbClr val="4ADE80"/>
                </a:solidFill>
                <a:latin typeface="Cairo"/>
              </a:rPr>
              <a:t>Functional Correctness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7225" y="2266950"/>
            <a:ext cx="3295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E2E8F0"/>
                </a:solidFill>
                <a:latin typeface="Cairo"/>
              </a:rPr>
              <a:t>اجتياز جميع الموديولات الفرعية لاختبارات الـ RTL المنطقية بنسبة </a:t>
            </a:r>
            <a:r>
              <a:rPr sz="1050" b="1" i="0" u="none">
                <a:solidFill>
                  <a:srgbClr val="E2E8F0"/>
                </a:solidFill>
                <a:latin typeface="Cairo"/>
              </a:rPr>
              <a:t>100%</a:t>
            </a:r>
            <a:r>
              <a:rPr sz="1050" b="0" i="0" u="none">
                <a:solidFill>
                  <a:srgbClr val="E2E8F0"/>
                </a:solidFill>
                <a:latin typeface="Cairo"/>
              </a:rPr>
              <a:t> ومطابقة بروتوكول الـ UART القياسي.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67400" y="1352550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65783" y="1924050"/>
            <a:ext cx="346043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37" b="1" i="0" u="none">
                <a:solidFill>
                  <a:srgbClr val="38BDF8"/>
                </a:solidFill>
                <a:latin typeface="Cairo"/>
              </a:rPr>
              <a:t>Timing Synchronization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8175" y="2266950"/>
            <a:ext cx="3295650" cy="711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E2E8F0"/>
                </a:solidFill>
                <a:latin typeface="Cairo"/>
              </a:rPr>
              <a:t>تناغم مسار البيانات () مع مسار التحكم () عبر الـ Handshaking بين و 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38350" y="1352550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36733" y="1924050"/>
            <a:ext cx="346043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37" b="1" i="0" u="none">
                <a:solidFill>
                  <a:srgbClr val="FACC15"/>
                </a:solidFill>
                <a:latin typeface="Cairo"/>
              </a:rPr>
              <a:t>Clean Reset Behavior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125" y="2266950"/>
            <a:ext cx="3295650" cy="43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E2E8F0"/>
                </a:solidFill>
                <a:latin typeface="Cairo"/>
              </a:rPr>
              <a:t>استعادة النظام لحالة الخمول فور هبوط إشارة الـ Reset في أي لحظة دون حدوث أخطاء بروتوكولية.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3644" y="5686425"/>
            <a:ext cx="11049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50" b="0" i="0" u="none">
                <a:solidFill>
                  <a:srgbClr val="38BDF8"/>
                </a:solidFill>
                <a:latin typeface="JetBrains Mono ExtraBold"/>
              </a:rPr>
              <a:t>4 /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33644" y="6067425"/>
            <a:ext cx="1104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2" b="0" i="0" u="none">
                <a:solidFill>
                  <a:srgbClr val="94A3B8"/>
                </a:solidFill>
                <a:latin typeface="Cairo"/>
              </a:rPr>
              <a:t>Submodules Verified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1447" y="5686425"/>
            <a:ext cx="11239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50" b="0" i="0" u="none">
                <a:solidFill>
                  <a:srgbClr val="4ADE80"/>
                </a:solidFill>
                <a:latin typeface="JetBrains Mono ExtraBold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1447" y="6067425"/>
            <a:ext cx="11239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2" b="0" i="0" u="none">
                <a:solidFill>
                  <a:srgbClr val="94A3B8"/>
                </a:solidFill>
                <a:latin typeface="Cairo"/>
              </a:rPr>
              <a:t>Testbench Pass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4050" y="5686425"/>
            <a:ext cx="8191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50" b="0" i="0" u="none">
                <a:solidFill>
                  <a:srgbClr val="FACC15"/>
                </a:solidFill>
                <a:latin typeface="JetBrains Mono ExtraBold"/>
              </a:rPr>
              <a:t>0 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4050" y="6067425"/>
            <a:ext cx="819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2" b="0" i="0" u="none">
                <a:solidFill>
                  <a:srgbClr val="94A3B8"/>
                </a:solidFill>
                <a:latin typeface="Cairo"/>
              </a:rPr>
              <a:t>Timing Glitches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39325" y="1485900"/>
            <a:ext cx="171450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10275" y="1485900"/>
            <a:ext cx="171450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53087" y="2266950"/>
            <a:ext cx="838200" cy="237083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0825" y="2504033"/>
            <a:ext cx="1066800" cy="237083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29150" y="2504033"/>
            <a:ext cx="609600" cy="237083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14987" y="2741116"/>
            <a:ext cx="990600" cy="237083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71700" y="1485900"/>
            <a:ext cx="190500" cy="190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81175" y="2266950"/>
            <a:ext cx="457200" cy="2370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1196</Words>
  <Application>Microsoft Office PowerPoint</Application>
  <PresentationFormat>Widescreen</PresentationFormat>
  <Paragraphs>149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Cairo</vt:lpstr>
      <vt:lpstr>Cairo ExtraBold</vt:lpstr>
      <vt:lpstr>Calibri</vt:lpstr>
      <vt:lpstr>JetBrains Mono</vt:lpstr>
      <vt:lpstr>JetBrains Mono ExtraBold</vt:lpstr>
      <vt:lpstr>Poppins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COMPUMARTS</dc:creator>
  <cp:keywords/>
  <dc:description>generated using python-pptx</dc:description>
  <cp:lastModifiedBy>ahmed mohamed</cp:lastModifiedBy>
  <cp:revision>2</cp:revision>
  <dcterms:created xsi:type="dcterms:W3CDTF">2013-01-27T09:14:16Z</dcterms:created>
  <dcterms:modified xsi:type="dcterms:W3CDTF">2026-08-29T04:03:32Z</dcterms:modified>
  <cp:category/>
</cp:coreProperties>
</file>